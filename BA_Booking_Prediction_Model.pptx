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011680" cy="6400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B41"/>
                </a:solidFill>
              </a:rPr>
              <a:t>BRITISH AIRWAYS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Analysis — Heathrow Terminal 3 Capacity Planning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547872"/>
            <a:ext cx="4572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50,000 bookings  </a:t>
            </a:r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Features: 17  </a:t>
            </a:r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Model: Random Forest (200 trees)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Kashish Yadav  ·  British Airways Virtual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04080"/>
          </a:solidFill>
          <a:ln w="12700">
            <a:solidFill>
              <a:srgbClr val="2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Feature Importance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76656"/>
            <a:ext cx="1920240" cy="960120"/>
          </a:xfrm>
          <a:prstGeom prst="rect">
            <a:avLst/>
          </a:prstGeom>
          <a:solidFill>
            <a:srgbClr val="2040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3898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13432" y="676656"/>
            <a:ext cx="1920240" cy="960120"/>
          </a:xfrm>
          <a:prstGeom prst="rect">
            <a:avLst/>
          </a:prstGeom>
          <a:solidFill>
            <a:srgbClr val="2040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13432" y="1188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13432" y="13898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98264" y="676656"/>
            <a:ext cx="1920240" cy="960120"/>
          </a:xfrm>
          <a:prstGeom prst="rect">
            <a:avLst/>
          </a:prstGeom>
          <a:solidFill>
            <a:srgbClr val="2040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98264" y="1188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98264" y="13898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83096" y="676656"/>
            <a:ext cx="1920240" cy="960120"/>
          </a:xfrm>
          <a:prstGeom prst="rect">
            <a:avLst/>
          </a:prstGeom>
          <a:solidFill>
            <a:srgbClr val="2040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83096" y="1188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3096" y="13898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64792"/>
            <a:ext cx="5029200" cy="315468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764792"/>
            <a:ext cx="3794760" cy="29260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04080"/>
          </a:solidFill>
          <a:ln w="12700">
            <a:solidFill>
              <a:srgbClr val="2040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5-Fold Stratified Cross-Validation · Random Forest · class_weight='balanced' · 200 estimators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04080"/>
          </a:solidFill>
          <a:ln w="12700">
            <a:solidFill>
              <a:srgbClr val="2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Business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069080" cy="4251960"/>
          </a:xfrm>
          <a:prstGeom prst="rect">
            <a:avLst/>
          </a:prstGeom>
          <a:solidFill>
            <a:srgbClr val="204080"/>
          </a:solidFill>
          <a:ln w="12700">
            <a:solidFill>
              <a:srgbClr val="20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31520"/>
            <a:ext cx="4069080" cy="34747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315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Findings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54864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389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51.6% importance — strongest predictor. Customers from certain origins book far more reliably.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1920240"/>
            <a:ext cx="54864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 importance — longer stays correlate with higher booking completion.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670048"/>
            <a:ext cx="54864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6700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889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 — long-haul routes see more committed conversions.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419856"/>
            <a:ext cx="54864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4198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Selected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— passengers choosing add-ons are more likely to complete.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4169664"/>
            <a:ext cx="54864" cy="502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1696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 — early planners complete bookings at higher rates.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731520"/>
            <a:ext cx="4434840" cy="4251960"/>
          </a:xfrm>
          <a:prstGeom prst="rect">
            <a:avLst/>
          </a:prstGeom>
          <a:solidFill>
            <a:srgbClr val="204080"/>
          </a:solidFill>
          <a:ln w="12700">
            <a:solidFill>
              <a:srgbClr val="204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731520"/>
            <a:ext cx="44348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7315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17043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1704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Origin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138988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proactive marketing to high-converting booking-origin segments identified by the model.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208483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848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Long-Stay Incentives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30428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packages and early-bird discounts for passengers with stays &gt; 7 days.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99923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992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Extras Early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21868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seat/meal/baggage selection in checkout — extras correlate strongly with conversion.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391363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9136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413308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0.745 is promising but class imbalance (85/15) limits precision (0.26). Enrich data with loyalty tier and historical behaviour for a more precise model.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204080"/>
          </a:solidFill>
          <a:ln w="12700">
            <a:solidFill>
              <a:srgbClr val="204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919472"/>
            <a:ext cx="877824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Random Forest Classifier  ·  50,000 customer bookings  ·  British Airways Virtual Experience Programme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2026-03-26T05:51:21Z</dcterms:created>
  <dcterms:modified xsi:type="dcterms:W3CDTF">2026-03-26T05:51:21Z</dcterms:modified>
</cp:coreProperties>
</file>